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TMR UNMANNED | MARKET &amp; FEASIBILITY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078992"/>
            <a:ext cx="8229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618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TMR 无人化市场调研与立项建议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面向“自走式 TMR / 拖拉机 + 拖拽式 TMR”存量设备的无人化升级层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建议结论：先做自走式 retrofit，先做无人投喂，再做无人取料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143000"/>
            <a:ext cx="36118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17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科技极简风 · 战略判断框架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66760" y="1828800"/>
            <a:ext cx="2468880" cy="1737360"/>
          </a:xfrm>
          <a:prstGeom prst="ellipse">
            <a:avLst/>
          </a:prstGeom>
          <a:solidFill>
            <a:srgbClr val="F6F8FB">
              <a:alpha val="0"/>
            </a:srgbClr>
          </a:solidFill>
          <a:ln w="12700">
            <a:solidFill>
              <a:srgbClr val="E0F2FE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32520" y="2697480"/>
            <a:ext cx="16459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2011680"/>
            <a:ext cx="0" cy="137160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1762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02368" y="21762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10928" y="29077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2440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核心不是“能不能自动跑”，而是能否稳定嵌入 TMR 工艺、车辆控制与场内安全。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855464"/>
            <a:ext cx="73152" cy="7863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737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Proof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5111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Lely 1000 套 / DeLaval 600+ 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422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自动饲喂需求已被验证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61688" y="4709160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4855464"/>
            <a:ext cx="73152" cy="7863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8737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Deployable Pool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1728" y="5111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45k - 70k 场址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81728" y="5422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dairy-first 全球可部署场址池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991856" y="4709160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855464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1896" y="48737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11896" y="5111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US$0.4B - 1.0B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11896" y="5422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 US$20k/套渠道价口径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管理层结论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先判断是否该做，再判断先做什么、卖给谁、如何控制风险。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203704"/>
            <a:ext cx="4572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317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值得立项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660904"/>
            <a:ext cx="2322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自动饲喂价值已经被验证，但“存量 TMR 设备无人化升级层”仍存在公开市场空白。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196596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2203704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3317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路线优先级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76472" y="2660904"/>
            <a:ext cx="2322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自走式 TMR retrofit；P2 有限车型的拖拉机+拖拽式；P3 无人取料/装料。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20370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3317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规模足够大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2660904"/>
            <a:ext cx="2322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US$0.4B-1.0B；SAM US$0.2B-0.5B；3-5 年 SOM 1,000-3,000 套。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72600" y="1965960"/>
            <a:ext cx="20848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37192" y="2203704"/>
            <a:ext cx="4572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331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区域顺序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37192" y="2660904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西北欧 &gt; 中国头部集团 &gt; 北美大型奶场。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107259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4164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为什么现在做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43484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2144" y="4389120"/>
            <a:ext cx="9893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市场端：Lely、DeLaval、GEA、Trioliet 已把自动饲喂教育完成，客户已接受“高频新鲜投喂 + 降人工 + 闭环管理”的价值。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005840" y="478231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4736592"/>
            <a:ext cx="9893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供给端：主流方案偏完整系统或专用机器人，对存量 TMR 资产的 brownfield retrofit 仍稀缺。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005840" y="512978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2144" y="5084064"/>
            <a:ext cx="9893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能力端：FeedLogger、Nimbo、ATX 已构成数字化、牛舍运行与无人化感知/控制三块底座。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05840" y="547725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52144" y="5431536"/>
            <a:ext cx="9893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进入策略：v1 聚焦“人工/半自动装料 + 无人投喂 + 自动回库”，不要一上来承诺全链路无人取料。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为什么现在是 TMR 无人化的合适窗口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需求成熟、客户集中、内部能力可复用。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203704"/>
            <a:ext cx="4572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3172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市场验证已完成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660904"/>
            <a:ext cx="309981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Lely Vector 在 2021 年交付第 1000 套；DeLaval 在 2023 年披露 Optimat 已装机 600+ 牧场；GEA、Trioliet、Wasserbauer、Pellon 说明自动饲喂不再是概念验证。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203704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33172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客户正在向大场集中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2660904"/>
            <a:ext cx="309981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美国 2017 年 &gt;=1,000 头奶牛牧场已占全国奶牛 55.2%；中国 2023 年奶牛规模化率约 76%。这类客户更有动力为降人工、夜间投喂和运营稳定性付费。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41071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20370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3317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你们不是从零开始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660904"/>
            <a:ext cx="308152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FeedLogger 已覆盖配方、任务与追溯；Nimbo 已覆盖牛舍运行与推料协同；ATX 已具备 RTK/IMU/LiDAR/远程接管/电子围栏/安全栈。新增难点集中在重载车辆控制、TMR 工艺执行和功能安全。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9808" y="614476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Lely, DeLaval, GEA, USDA ERS, 农业农村部, Sveaverken / FJD internal product materials.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WHITESPACE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竞争格局与市场空白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完整系统很多，但对存量 TMR 资产友好的无人化升级层仍稀缺。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88720" y="5303520"/>
            <a:ext cx="8412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920240"/>
            <a:ext cx="0" cy="338328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54132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系统闭环度 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6200000">
            <a:off x="694944" y="1783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对存量设备友好度 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4572000"/>
            <a:ext cx="2103120" cy="38404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467258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Lely / DeLaval / Trioliet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3749040"/>
            <a:ext cx="214884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384962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GEA / Wasserbauer / Pellon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52360" y="3246120"/>
            <a:ext cx="13258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3346704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KUHN AURA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17830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89504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Faresin / SILOKING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2331720"/>
            <a:ext cx="150876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432304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FS200 机会点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012680" y="1920240"/>
            <a:ext cx="1463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22992" y="2194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空白定义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04704" y="263347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51008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低土建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10204704" y="301752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51008" y="2962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少改造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10204704" y="340156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51008" y="3346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兼容存量 TMR 资产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204704" y="378561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51008" y="3730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可与 FeedLogger / Nimbo 协同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10204704" y="416966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51008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比完整系统更低 CAPEX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49808" y="614476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products: Lely Vector, DeLaval Optimat, GEA DairyFeed F4500, Trioliet, KUHN AURA, Faresin, SILOKING.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 ROUTES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三条路线的可行性判断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关键不是“都能不能做”，而是“哪条路线最适合先商业化”。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306324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834640"/>
                <a:gridCol w="2697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评估维度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自走式 TMR retrofit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拖拉机 + 拖拽式 retrofit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无人取料 / 装料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控制边界清晰度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低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车辆/作业耦合复杂度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极高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场内导航与安全压力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极高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平台化复制性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中高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中低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低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上市速度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快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中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慢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商业优先级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5321808"/>
            <a:ext cx="1069848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DE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5138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建议：v1 只做“人工/半自动装料 + 无人投喂 + 自动回库”，先把 feed-out 跑通，再碰 loading。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SCOPE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推荐 MVP：Autonomous Feed-Out Kit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把“已装料后无人投喂”做成稳定可交付产品，而不是演示级原型。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331720"/>
            <a:ext cx="2103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4203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786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43584" y="25420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FeedLogger 调度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53512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任务下发、配方调用、栏位/组别切换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916936" y="2971800"/>
            <a:ext cx="256032" cy="347472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331720"/>
            <a:ext cx="2103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54203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5786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75304" y="25420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人工/半自动装料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953512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首版保留人工装料，降低技术和安全风险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248656" y="2971800"/>
            <a:ext cx="256032" cy="347472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2331720"/>
            <a:ext cx="2103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542032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5786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07024" y="25420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自主路径与避障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953512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RTK / IMU / LiDAR / geofence / 远程接管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580376" y="2971800"/>
            <a:ext cx="256032" cy="347472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4968" y="2331720"/>
            <a:ext cx="2103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254203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25786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38744" y="25420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精准投喂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09560" y="2953512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定量卸料、路线跟随、组别切换、作业闭环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912096" y="2971800"/>
            <a:ext cx="256032" cy="347472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76688" y="2331720"/>
            <a:ext cx="2103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0" y="254203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25786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70464" y="25420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自动回库/补能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0" y="2953512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回库、充电/补能、异常告警与报表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49808" y="4754880"/>
            <a:ext cx="10680192" cy="8229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D5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01091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暂不纳入 v1：青贮取料、复杂倒车、任意 OEM 通用化、跨场区超长路线。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SIZING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市场规模测算：从场址池到 TAM / SAM / SOM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先看可部署场址池，再收敛成可变现的套件规模。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7315200" cy="603504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214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可部署场址池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12140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45k - 70k 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2752344"/>
            <a:ext cx="6126480" cy="60350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9077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理论 TAM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9077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20k - 50k 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3538728"/>
            <a:ext cx="493776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69417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现实 SAM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6941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10k - 25k 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4325112"/>
            <a:ext cx="3749040" cy="60350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4805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3-5 年 SOM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4805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1k - 3k 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9640" y="1965960"/>
            <a:ext cx="28803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2212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核心假设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63347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4544" y="2578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dairy-first，不含全部 beef feedlot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778240" y="301752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24544" y="2962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只计 brownfield retrofit 子场景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778240" y="340156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4544" y="3346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先自走式，后有限车型拖拽式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778240" y="378561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3730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 US$20k/套渠道价估算硬件 TAM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778240" y="416966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24544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软件/服务收入尚未完全计入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549640" y="5349240"/>
            <a:ext cx="2880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95944" y="5495544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551383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69680" y="57515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US$0.4B - 1.0B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69680" y="57332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对应硬件口径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区域优先级与目标客户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区域选择决定试点效率，客户画像决定交付难度。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5778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128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区域优先级（可部署场址池 midpoint，k sites）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西北欧及欧洲核心奶区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834640" y="2724912"/>
            <a:ext cx="2788920" cy="20116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724912"/>
            <a:ext cx="2614613" cy="201168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72491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37.5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北美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834640" y="3364992"/>
            <a:ext cx="2788920" cy="20116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3364992"/>
            <a:ext cx="697230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33649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中国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834640" y="4005072"/>
            <a:ext cx="2788920" cy="20116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4005072"/>
            <a:ext cx="244030" cy="20116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400507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大洋洲/中东/拉美部分市场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834640" y="4645152"/>
            <a:ext cx="2788920" cy="20116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4645152"/>
            <a:ext cx="522922" cy="201168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46451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60120" y="54681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推荐进入顺序：西北欧 &gt; 中国头部集团 &gt; 北美大型奶场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1965960"/>
            <a:ext cx="48920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首批 ICP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84848" y="268833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26334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800 头奶牛，或多组别多圈舍牧场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784848" y="312724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30723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每天 2 次以上投喂，夜间/错峰投喂有价值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784848" y="356616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35112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已具备标准化投喂路线，愿意接受 geofence 和限速区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784848" y="400507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39502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已有自走式 TMR 或少量标准化拖拉机 family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784848" y="444398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43891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具备数字化管理基础，能接受远程运维与日志追踪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749808" y="614476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sizing uses a bottom-up deployable site pool estimate informed by USDA ERS, Europe dairy structure references, 农业农村部, DairyNZ and Dairy Australia.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产品路线图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先打穿闭环，再扩模型族，再向完整无人饲喂平台延展。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3154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65960"/>
            <a:ext cx="31546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212848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| 2026 H2 - 2027 H1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78992" y="2523744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578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Self-Propelled MVP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78992" y="303580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2-4 个自走式 TMR 车型适配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078992" y="338328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328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个灯塔牧场试点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078992" y="373075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3675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人工装料 + 无人投喂 + 自动回库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07992" y="1965960"/>
            <a:ext cx="3154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1965960"/>
            <a:ext cx="3154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2212848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| 2027 H2 - 2028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672584" y="2523744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2578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Tractor Family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72584" y="3035808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有限拖拉机 / 拖车平台适配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672584" y="338328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328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安装与部署工具包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4672584" y="373075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675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远程接管与运维体系标准化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101584" y="1965960"/>
            <a:ext cx="305409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1965960"/>
            <a:ext cx="3054096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66176" y="221284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| 2028+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266176" y="2523744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2578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Closed Loop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66176" y="3035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2980944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无人取料 / 装料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266176" y="338328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32841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多车协同调度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266176" y="37307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367588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软件与服务收入放大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914400" y="470916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52144" y="4965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North-star metrics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743200" y="49469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&gt;99% 任务完成率    &lt;=2% 投喂误差    &gt;=1 个日常投喂岗位替代 / 显著减少夜班与周末人工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NEXT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关键风险与 90 天动作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先把不确定性前置，而不是在量产时暴露。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16636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128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615184"/>
            <a:ext cx="4526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615184"/>
            <a:ext cx="73152" cy="6400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功能安全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48256" y="27249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人牛混行、低速防撞、远程接管和责任边界必须按工业产品标准设计。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960120" y="3438144"/>
            <a:ext cx="4526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438144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66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 OEM 适配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48256" y="35478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品牌/年份/液压逻辑差异会迅速放大售后复杂度，必须限车型族。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960120" y="4261104"/>
            <a:ext cx="4526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261104"/>
            <a:ext cx="7315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3891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 难度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48256" y="43708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青贮面和料堆属于非结构化场景，不适合在 v1 承诺。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960120" y="5084064"/>
            <a:ext cx="4526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084064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5212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CAPEX 周期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48256" y="5193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中国奶业短期盈利承压，首批项目必须用明确 ROI 说服客户。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126480" y="1965960"/>
            <a:ext cx="5321808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未来 90 天建议动作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19088" y="26517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688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4848" y="2670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锁定 MVP 边界：明确只做 self-propelled feed-out，不做 loading。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19088" y="322783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2644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84848" y="32461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选定 2-4 个车型家族：完成控制接口、液压逻辑和安全冗余梳理。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19088" y="3803904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8404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84848" y="38221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筛 3 个灯塔牧场：优先西北欧 1-2 个、中国头部集团 1 个。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19088" y="4379976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44165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84848" y="43982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建立 ROI 模型：岗位替代、夜班减少、投喂一致性和饲料浪费下降要量化。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19088" y="495604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9926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84848" y="49743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形成 dealer/实施标准包：建图、培训、远程接管、维保和安全 SOP。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82512" y="5358384"/>
            <a:ext cx="4700016" cy="3931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DEF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54681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立项建议：批准 Phase 1 概念验证，目标是在 6-9 个月内完成首个“已装料后无人投喂”闭环。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| SOURCES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428232"/>
            <a:ext cx="10698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648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内部讨论稿 | 2026-03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关键公开来源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用于支撑自动饲喂成熟度、行业结构与市场规模口径。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96596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128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65392" y="2212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+ internal 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6517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Lely Vector official page / 1000th Vector news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21868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1638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DeLaval Optimat / OptiWagon official launch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373075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6758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GEA DairyFeed F4500 official page and launch release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424281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41879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KUHN AURA official materials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475488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47000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Trioliet automatic feeding materials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" y="526694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6424" y="5212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USDA ERS dairy structure references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65392" y="270662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26517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农业农村部：中国奶业质量报告与稳定奶牛生产政策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65392" y="3218688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31638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DairyNZ facts &amp; figures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65392" y="373075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36758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Dairy Australia annual reports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65392" y="424281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41879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Sveaverken animal farming product page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65392" y="475488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47000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FJD ATX product page and internal input materials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65392" y="526694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5212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artifacts: framing / competitor matrix / feasibility memo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9808" y="599846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备注：全部数值为基于公开资料与内部假设的估算口径，适合作为立项与管理层讨论底稿，不应直接对外发布为第三方认证市场数据。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FJD / Sveaverken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TMR 无人化市场调研与立项建议</dc:title>
  <dc:subject>TMR 无人化市场调研与立项建议</dc:subject>
  <dc:creator>OpenAI Codex</dc:creator>
  <cp:lastModifiedBy>OpenAI Codex</cp:lastModifiedBy>
  <cp:revision>1</cp:revision>
  <dcterms:created xsi:type="dcterms:W3CDTF">2026-03-19T01:44:36Z</dcterms:created>
  <dcterms:modified xsi:type="dcterms:W3CDTF">2026-03-19T01:44:36Z</dcterms:modified>
</cp:coreProperties>
</file>